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8DEAF-C761-4FE3-A989-10DE534D4E3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4E9C0-7750-4241-A907-1783F6669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4E9C0-7750-4241-A907-1783F66698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4E9C0-7750-4241-A907-1783F66698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4E9C0-7750-4241-A907-1783F66698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4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8F77-4610-E3D9-B88B-18AD48D7F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D76F7-0DCA-1C86-965E-0E8EAF61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925B-D366-3B27-FEE4-A6C4BAD6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B4A6-A84F-3245-1EB9-38DCE34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AB87E-2DE7-0BCC-840F-5AA57AC6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2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12E3-3A9B-A465-A70E-08CB1512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2654-CC38-018F-ECB8-557DF6FBC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023B9-33D7-8F3D-903A-39D7367C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36889-B5F7-3E1E-1CC6-5D54987F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09E8-7F7F-EE6B-751E-3D7F072B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4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BB90-CB14-9DF8-FAEB-A6FCBAD0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42A4A-CFA6-E791-1637-C0BAB42BB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8CBDB-6A91-F0EE-7796-7B3CBA0A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87B27-0AC3-1B1C-BD28-A14D3185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8BE8C-98E0-25DB-294E-700F6081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2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7677-0956-0695-2B36-ED912B05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3BB9-4750-F343-9914-C61F5F61A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8C32-7F59-A5BB-4E99-B73FBF3F2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16BF9-25FA-8E5B-3953-2AB510CA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BEEE-8046-6540-9780-A00E845B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2D2D7-7595-22D4-D743-1B7CEBF6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6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8DE5-ED70-CDC5-AC58-29296940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7BF72-0D91-A748-1D62-13EE6780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12CA3-1B9E-A4EC-126A-FE3BD5B45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B8B38-E1B2-0079-AA9B-A0DE02031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91560-BAF3-2FE3-9C20-6B90BC704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D661C-F4BD-F5E6-1921-2097A155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C2CD4-653D-059D-F026-8B3FED97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B42BF-5361-5B64-F88F-1FF0D1B8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4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1868-D5A7-7516-987B-7E48278C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3C3A2-861F-C622-5368-ED445B17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44515-009D-F25F-45B0-C6C670D2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301D3-A44D-20F0-4D94-979FE0F8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FE9C0-4CEB-36ED-0206-575D4FBA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351C7-F929-750A-860F-88B3B9A3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AAB6-6F86-12DE-2B5B-D3CA47B0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9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2545-BE57-48EB-2DB7-885D3EBB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902E-143E-0562-985D-8470C6C7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A26D9-A0E6-88BF-0465-C29829D17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1B33F-6EA1-04B5-EE0E-9AF8A9D5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DAA52-7096-EE69-9D6F-B334FA9E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F60F-D031-0AB5-562C-9E25571A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7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A5B8-5C56-9432-512C-5E7326EE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C89849-DD65-B3B6-14FB-A58CC7150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9D329-2F10-7387-02DF-4F79F400C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6995A-5128-B199-5898-334BEB59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1A9C6-7768-651C-4CE1-EEA5A19B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A23B-645C-C4D8-B090-EC0A3A03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2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DB84-CC8D-22EF-C5ED-754A8C62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956D2-D4C1-D73F-FA1F-4C5AC3DFE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DF7E-ABE8-42C7-1F17-D0E4ED4B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ECAE1-8749-528F-8855-E1727545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E4D4-7F74-6145-7C19-05E20F32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328ED-7DED-D7B2-A276-5864CF8BA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BF6F0-B068-F976-BFC1-0D74AFA4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86F0-5B5B-0607-4497-08935B9D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37BC0-0B38-7700-44CC-79CF5486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2601-AE3E-9619-B73B-DAB55B0E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8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F7A36-74F6-7B0E-DA61-5A60FD0C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C023-09BE-B9CF-1F1D-53F583EE7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C752C-3CA5-DBF9-CA9A-4B476E742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64DA-1626-49F7-BD19-6C67363418EA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391F-5944-40D7-0081-9E7D79348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43A1-8EBC-64F9-9D68-6C2F103CD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2F9CA-EFF5-4AFF-839E-E3A056E2C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2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76AC4-C4C0-4DF4-83BF-3D0E859F7D13}"/>
              </a:ext>
            </a:extLst>
          </p:cNvPr>
          <p:cNvSpPr txBox="1"/>
          <p:nvPr/>
        </p:nvSpPr>
        <p:spPr>
          <a:xfrm>
            <a:off x="2623009" y="149258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02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03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FFFFFF"/>
                </a:solidFill>
                <a:effectLst/>
              </a:rPr>
              <a:t>Data Presentation</a:t>
            </a:r>
            <a:endParaRPr lang="en-US" dirty="0">
              <a:effectLst/>
            </a:endParaRPr>
          </a:p>
          <a:p>
            <a:pPr algn="ctr" rtl="0"/>
            <a:r>
              <a:rPr lang="en-US" b="1" i="0" dirty="0">
                <a:solidFill>
                  <a:srgbClr val="0CC0DF"/>
                </a:solidFill>
                <a:effectLst/>
              </a:rPr>
              <a:t>Marketing Campaign Analysis</a:t>
            </a:r>
            <a:endParaRPr lang="en-US" dirty="0">
              <a:effectLst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263858-CB80-4828-93FF-2DEEBD889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ACAF05-7683-42BA-89A0-84FECC14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" y="56172"/>
            <a:ext cx="12103419" cy="68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247F-6E17-7944-C080-3469776D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097B2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AF05-34E8-7862-8CDB-AACE17A2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155" y="1690688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0097B2"/>
                </a:solidFill>
              </a:rPr>
              <a:t>increase Conversion Rates </a:t>
            </a:r>
          </a:p>
          <a:p>
            <a:pPr marL="0" indent="0">
              <a:buNone/>
            </a:pPr>
            <a:r>
              <a:rPr lang="en-US" dirty="0"/>
              <a:t> 	 – Identify drop-off points and suggest improvements.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97B2"/>
                </a:solidFill>
              </a:rPr>
              <a:t>Enhance Customer Engagement</a:t>
            </a:r>
          </a:p>
          <a:p>
            <a:pPr marL="457200" lvl="1" indent="0">
              <a:buNone/>
            </a:pPr>
            <a:r>
              <a:rPr lang="en-US" dirty="0"/>
              <a:t>	 – Analyze what content drives higher engagement.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0097B2"/>
                </a:solidFill>
              </a:rPr>
              <a:t>Improve Customer Feedback Scores</a:t>
            </a:r>
          </a:p>
          <a:p>
            <a:pPr marL="0" indent="0">
              <a:buNone/>
            </a:pPr>
            <a:r>
              <a:rPr lang="en-US" dirty="0"/>
              <a:t>	 – Detect common themes and suggest improvements.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86F64-FE13-424C-BC91-794AED6A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586"/>
            <a:ext cx="12166179" cy="687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8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3E8F-C14D-8E13-EAE4-2EC269EF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12F5832-ED9F-4077-A027-FCC6C951F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6"/>
            <a:ext cx="12202126" cy="685231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866BBD-F4FC-41AE-8770-244291628944}"/>
              </a:ext>
            </a:extLst>
          </p:cNvPr>
          <p:cNvSpPr/>
          <p:nvPr/>
        </p:nvSpPr>
        <p:spPr>
          <a:xfrm>
            <a:off x="152400" y="190190"/>
            <a:ext cx="5805340" cy="1097915"/>
          </a:xfrm>
          <a:prstGeom prst="roundRect">
            <a:avLst>
              <a:gd name="adj" fmla="val 35673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57B05C-5E04-4134-8C46-30E7606D803F}"/>
              </a:ext>
            </a:extLst>
          </p:cNvPr>
          <p:cNvSpPr/>
          <p:nvPr/>
        </p:nvSpPr>
        <p:spPr>
          <a:xfrm>
            <a:off x="9131546" y="0"/>
            <a:ext cx="3060454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3A70DE-C0B4-8CE0-F8B2-CCFE4C1C1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1724415"/>
            <a:ext cx="7526509" cy="4952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C6647-6BF7-6104-B7FA-75934D2A58C1}"/>
              </a:ext>
            </a:extLst>
          </p:cNvPr>
          <p:cNvSpPr txBox="1"/>
          <p:nvPr/>
        </p:nvSpPr>
        <p:spPr>
          <a:xfrm>
            <a:off x="181981" y="2058822"/>
            <a:ext cx="4218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Traffic Freefall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Total annual views dropped from 5.0M (2023) to 1.1M (2025), a staggering ~78% decrease in two years.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Deceptive Stability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While the 9.6% Conversion Rate looks healthy, it is applied to a shrinking audience, indicating a total failure in new user acquisition.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 rtl="0"/>
            <a:r>
              <a:rPr lang="en-US" b="1" i="0" dirty="0">
                <a:solidFill>
                  <a:srgbClr val="0B0A0A"/>
                </a:solidFill>
                <a:effectLst/>
              </a:rPr>
              <a:t>•</a:t>
            </a:r>
            <a:r>
              <a:rPr lang="en-US" b="1" i="0" dirty="0">
                <a:solidFill>
                  <a:srgbClr val="0CC0DF"/>
                </a:solidFill>
                <a:effectLst/>
              </a:rPr>
              <a:t>Product Performance Gap</a:t>
            </a:r>
            <a:r>
              <a:rPr lang="en-US" b="1" i="0" dirty="0">
                <a:solidFill>
                  <a:srgbClr val="0B0A0A"/>
                </a:solidFill>
                <a:effectLst/>
              </a:rPr>
              <a:t>: Conversion varies wildly from 15.46% (Hockey Stick) to as low as 5.62% (Swim Goggles), showing inconsistent marketing effectiveness.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4F58B482-F644-5711-B613-3D88BCE3A144}"/>
              </a:ext>
            </a:extLst>
          </p:cNvPr>
          <p:cNvSpPr/>
          <p:nvPr/>
        </p:nvSpPr>
        <p:spPr>
          <a:xfrm rot="264783">
            <a:off x="11672841" y="4541507"/>
            <a:ext cx="134911" cy="131913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F01118-95A3-456D-4BEF-E09CF2D6EE17}"/>
              </a:ext>
            </a:extLst>
          </p:cNvPr>
          <p:cNvSpPr/>
          <p:nvPr/>
        </p:nvSpPr>
        <p:spPr>
          <a:xfrm>
            <a:off x="7258463" y="3429000"/>
            <a:ext cx="1079292" cy="110927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15CA69-6059-3668-23D8-73D574CC75FB}"/>
              </a:ext>
            </a:extLst>
          </p:cNvPr>
          <p:cNvSpPr/>
          <p:nvPr/>
        </p:nvSpPr>
        <p:spPr>
          <a:xfrm>
            <a:off x="7210268" y="5133585"/>
            <a:ext cx="1127487" cy="11092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0C02ADC-0365-0C9B-C848-88B0430BA9BA}"/>
              </a:ext>
            </a:extLst>
          </p:cNvPr>
          <p:cNvSpPr/>
          <p:nvPr/>
        </p:nvSpPr>
        <p:spPr>
          <a:xfrm>
            <a:off x="10047522" y="3296588"/>
            <a:ext cx="100820" cy="64332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E32825B-6569-4B82-9E68-E0740DC3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10" y="460446"/>
            <a:ext cx="5532120" cy="1097915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Conversion Rates </a:t>
            </a:r>
            <a:br>
              <a:rPr lang="en-US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</a:b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B739F-8260-0BC7-D50C-50191569D6AB}"/>
              </a:ext>
            </a:extLst>
          </p:cNvPr>
          <p:cNvSpPr txBox="1"/>
          <p:nvPr/>
        </p:nvSpPr>
        <p:spPr>
          <a:xfrm>
            <a:off x="8951976" y="290226"/>
            <a:ext cx="305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Root Cause Analysis</a:t>
            </a:r>
          </a:p>
        </p:txBody>
      </p:sp>
    </p:spTree>
    <p:extLst>
      <p:ext uri="{BB962C8B-B14F-4D97-AF65-F5344CB8AC3E}">
        <p14:creationId xmlns:p14="http://schemas.microsoft.com/office/powerpoint/2010/main" val="100447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B788F-D638-420E-8364-A68F506E0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2" y="24267"/>
            <a:ext cx="12169038" cy="68337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926A55-B7DE-4650-9988-A32F1995E532}"/>
              </a:ext>
            </a:extLst>
          </p:cNvPr>
          <p:cNvSpPr/>
          <p:nvPr/>
        </p:nvSpPr>
        <p:spPr>
          <a:xfrm>
            <a:off x="9131546" y="0"/>
            <a:ext cx="3060454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54653A-EA75-607D-BC8B-1C77AD45B178}"/>
              </a:ext>
            </a:extLst>
          </p:cNvPr>
          <p:cNvSpPr txBox="1"/>
          <p:nvPr/>
        </p:nvSpPr>
        <p:spPr>
          <a:xfrm>
            <a:off x="279011" y="1765557"/>
            <a:ext cx="47096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Growth Collapse: </a:t>
            </a:r>
            <a:r>
              <a:rPr lang="en-US" b="1" dirty="0"/>
              <a:t>Total views plummeted by ~48% over the year, dropping from 0.98M in January to 0.51M in December.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​</a:t>
            </a:r>
            <a:r>
              <a:rPr lang="en-US" b="1" dirty="0">
                <a:solidFill>
                  <a:srgbClr val="0097B2"/>
                </a:solidFill>
              </a:rPr>
              <a:t>The Advocacy Gap: </a:t>
            </a:r>
            <a:r>
              <a:rPr lang="en-US" b="1" dirty="0"/>
              <a:t>You have a solid foundation of 840 happy customers (rating 4-5 stars), yet they are "silent fans" who aren't sharing or promoting the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​</a:t>
            </a:r>
            <a:r>
              <a:rPr lang="en-US" b="1" dirty="0">
                <a:solidFill>
                  <a:srgbClr val="0097B2"/>
                </a:solidFill>
              </a:rPr>
              <a:t>Content Decay: </a:t>
            </a:r>
            <a:r>
              <a:rPr lang="en-US" b="1" dirty="0"/>
              <a:t>The pillars of your reach—Video and Blogs—saw the steepest decline, with video alone dropping from 0.35M to 0.15M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​Regional Mediocrity:</a:t>
            </a:r>
            <a:r>
              <a:rPr lang="ar-EG" b="1" dirty="0">
                <a:solidFill>
                  <a:srgbClr val="0097B2"/>
                </a:solidFill>
              </a:rPr>
              <a:t> </a:t>
            </a:r>
            <a:r>
              <a:rPr lang="en-US" b="1" dirty="0"/>
              <a:t>Ratings across Europe are "good but not great," ranging from a high of 3.77 in Spain to a low of 3.49 in Switzerland. </a:t>
            </a:r>
          </a:p>
        </p:txBody>
      </p:sp>
      <p:pic>
        <p:nvPicPr>
          <p:cNvPr id="5" name="Picture 4" descr="A graph of sales and engagement&#10;&#10;AI-generated content may be incorrect.">
            <a:extLst>
              <a:ext uri="{FF2B5EF4-FFF2-40B4-BE49-F238E27FC236}">
                <a16:creationId xmlns:a16="http://schemas.microsoft.com/office/drawing/2014/main" id="{1CBBF4CD-C6EE-81E2-7432-4D0721079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251" y="1484172"/>
            <a:ext cx="6140738" cy="2590428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6C8848EF-8B92-4E59-0147-3E70C1280647}"/>
              </a:ext>
            </a:extLst>
          </p:cNvPr>
          <p:cNvSpPr/>
          <p:nvPr/>
        </p:nvSpPr>
        <p:spPr>
          <a:xfrm rot="17091668">
            <a:off x="10802105" y="1646644"/>
            <a:ext cx="134911" cy="131913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3489A55-0D61-0A08-C368-F6AD04875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13" y="4242216"/>
            <a:ext cx="6849376" cy="2324655"/>
          </a:xfr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4302BC-0A5D-48C8-9907-A1795F068FD0}"/>
              </a:ext>
            </a:extLst>
          </p:cNvPr>
          <p:cNvSpPr/>
          <p:nvPr/>
        </p:nvSpPr>
        <p:spPr>
          <a:xfrm>
            <a:off x="118755" y="167225"/>
            <a:ext cx="7692272" cy="1025427"/>
          </a:xfrm>
          <a:prstGeom prst="roundRect">
            <a:avLst/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E9BD0-CB3F-26FF-D449-AE78DE50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53" y="38067"/>
            <a:ext cx="9096990" cy="132527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Customer Engagement Rate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4F885-8920-9157-F474-4ECF1A999C99}"/>
              </a:ext>
            </a:extLst>
          </p:cNvPr>
          <p:cNvSpPr txBox="1"/>
          <p:nvPr/>
        </p:nvSpPr>
        <p:spPr>
          <a:xfrm>
            <a:off x="8895867" y="79773"/>
            <a:ext cx="305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Root Cause Analysis</a:t>
            </a:r>
          </a:p>
        </p:txBody>
      </p:sp>
    </p:spTree>
    <p:extLst>
      <p:ext uri="{BB962C8B-B14F-4D97-AF65-F5344CB8AC3E}">
        <p14:creationId xmlns:p14="http://schemas.microsoft.com/office/powerpoint/2010/main" val="217353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CB58-DB62-FAC7-8B91-41F37A00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3026A4-D2D7-8458-4F39-88B882E5FA9F}"/>
              </a:ext>
            </a:extLst>
          </p:cNvPr>
          <p:cNvSpPr/>
          <p:nvPr/>
        </p:nvSpPr>
        <p:spPr>
          <a:xfrm>
            <a:off x="118754" y="167225"/>
            <a:ext cx="8227534" cy="1025427"/>
          </a:xfrm>
          <a:prstGeom prst="roundRect">
            <a:avLst/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9616FB-7A78-4936-8A70-E74DCB998319}"/>
              </a:ext>
            </a:extLst>
          </p:cNvPr>
          <p:cNvSpPr/>
          <p:nvPr/>
        </p:nvSpPr>
        <p:spPr>
          <a:xfrm>
            <a:off x="8839445" y="0"/>
            <a:ext cx="3352555" cy="6842555"/>
          </a:xfrm>
          <a:prstGeom prst="roundRect">
            <a:avLst>
              <a:gd name="adj" fmla="val 0"/>
            </a:avLst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0DD8F-4E04-E44B-7E25-478FB191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05" y="549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Customer Feedback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4A4A1-FC25-59F9-7F6C-BD19F58E8562}"/>
              </a:ext>
            </a:extLst>
          </p:cNvPr>
          <p:cNvSpPr txBox="1"/>
          <p:nvPr/>
        </p:nvSpPr>
        <p:spPr>
          <a:xfrm>
            <a:off x="353961" y="2038105"/>
            <a:ext cx="47096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Reach Collapse: </a:t>
            </a:r>
            <a:r>
              <a:rPr lang="en-US" b="1" dirty="0"/>
              <a:t>Total Views plummeted from 0.98M in January to 0.51M by December, representing a ~48% loss in visibility.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Video Performance: </a:t>
            </a:r>
            <a:r>
              <a:rPr lang="en-US" b="1" dirty="0"/>
              <a:t>Dropped by ~57% (from 0.35M to 0.15M), which is the primary driver of the overall reach collapse.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Blog Engagement: </a:t>
            </a:r>
            <a:r>
              <a:rPr lang="en-US" b="1" dirty="0"/>
              <a:t>Declined by ~54% (from 0.35M to 0.16M), indicating a failure in long-form content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97B2"/>
                </a:solidFill>
              </a:rPr>
              <a:t>Social Media: </a:t>
            </a:r>
            <a:r>
              <a:rPr lang="en-US" b="1" dirty="0"/>
              <a:t>Failed to compensate for the losses, ending the year at a low 0.20M views.</a:t>
            </a:r>
          </a:p>
        </p:txBody>
      </p:sp>
      <p:pic>
        <p:nvPicPr>
          <p:cNvPr id="4" name="Picture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62AED6BE-0E34-9971-CB7F-76B7C44AA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324" y="2143036"/>
            <a:ext cx="2943636" cy="3970318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0EECAD5-1275-3637-EA93-AACB559E8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492" y="2143036"/>
            <a:ext cx="3600953" cy="410786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EFC6176-0853-B780-71FE-17530448CF39}"/>
              </a:ext>
            </a:extLst>
          </p:cNvPr>
          <p:cNvSpPr/>
          <p:nvPr/>
        </p:nvSpPr>
        <p:spPr>
          <a:xfrm rot="169626">
            <a:off x="8016504" y="2908094"/>
            <a:ext cx="449705" cy="344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04B781-9BE1-B8F2-E894-6F82A79F0922}"/>
              </a:ext>
            </a:extLst>
          </p:cNvPr>
          <p:cNvSpPr/>
          <p:nvPr/>
        </p:nvSpPr>
        <p:spPr>
          <a:xfrm rot="169626">
            <a:off x="7888354" y="5368978"/>
            <a:ext cx="449705" cy="344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BA9BA3-0AB0-30F0-3417-84FB775796BF}"/>
              </a:ext>
            </a:extLst>
          </p:cNvPr>
          <p:cNvSpPr/>
          <p:nvPr/>
        </p:nvSpPr>
        <p:spPr>
          <a:xfrm>
            <a:off x="10704575" y="2709113"/>
            <a:ext cx="1079292" cy="7198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83FB6-AC56-6A8A-88E1-E01D2479D982}"/>
              </a:ext>
            </a:extLst>
          </p:cNvPr>
          <p:cNvSpPr txBox="1"/>
          <p:nvPr/>
        </p:nvSpPr>
        <p:spPr>
          <a:xfrm>
            <a:off x="8951976" y="290226"/>
            <a:ext cx="305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Root Cause Analysis</a:t>
            </a:r>
          </a:p>
        </p:txBody>
      </p:sp>
    </p:spTree>
    <p:extLst>
      <p:ext uri="{BB962C8B-B14F-4D97-AF65-F5344CB8AC3E}">
        <p14:creationId xmlns:p14="http://schemas.microsoft.com/office/powerpoint/2010/main" val="423749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7A63F8-2634-415B-9763-CB7CD8A0C729}"/>
              </a:ext>
            </a:extLst>
          </p:cNvPr>
          <p:cNvSpPr/>
          <p:nvPr/>
        </p:nvSpPr>
        <p:spPr>
          <a:xfrm>
            <a:off x="2249863" y="126039"/>
            <a:ext cx="7692272" cy="1025427"/>
          </a:xfrm>
          <a:prstGeom prst="roundRect">
            <a:avLst/>
          </a:prstGeom>
          <a:solidFill>
            <a:srgbClr val="009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766" y="-15216"/>
            <a:ext cx="6606467" cy="1307939"/>
          </a:xfrm>
        </p:spPr>
        <p:txBody>
          <a:bodyPr>
            <a:normAutofit/>
          </a:bodyPr>
          <a:lstStyle/>
          <a:p>
            <a:r>
              <a:rPr lang="nb-NO" sz="6000" b="1" dirty="0">
                <a:solidFill>
                  <a:schemeClr val="bg1"/>
                </a:solidFill>
                <a:latin typeface="Arial Black" panose="020B0A04020102020204" pitchFamily="34" charset="0"/>
              </a:rPr>
              <a:t>Goals &amp; Action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914869" y="1100381"/>
            <a:ext cx="1511237" cy="70624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97B2"/>
                </a:solidFill>
              </a:rPr>
              <a:t>Goals</a:t>
            </a:r>
            <a:endParaRPr lang="nb-NO" sz="4000" dirty="0">
              <a:solidFill>
                <a:srgbClr val="0097B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6377" y="1806627"/>
            <a:ext cx="5157787" cy="494659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Enhance Customer Engagement: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sz="5600" b="1" dirty="0">
                <a:solidFill>
                  <a:srgbClr val="0097B2"/>
                </a:solidFill>
              </a:rPr>
              <a:t>Improve Customer Feedback Scores: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Goal: </a:t>
            </a:r>
            <a:r>
              <a:rPr lang="en-US" sz="4800" b="1" dirty="0"/>
              <a:t>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sz="4800" b="1" dirty="0">
                <a:solidFill>
                  <a:srgbClr val="0097B2"/>
                </a:solidFill>
              </a:rPr>
              <a:t>Insight: </a:t>
            </a:r>
            <a:r>
              <a:rPr lang="en-US" sz="4800" b="1" dirty="0"/>
              <a:t>Identify recurring positive and negative feedback to guide product and service improvements.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7693529" y="1122685"/>
            <a:ext cx="1913458" cy="82391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97B2"/>
                </a:solidFill>
              </a:rPr>
              <a:t>Actions</a:t>
            </a:r>
            <a:endParaRPr lang="nb-NO" sz="4000" dirty="0">
              <a:solidFill>
                <a:srgbClr val="0097B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AD9333-2544-B4BD-170D-703F1FFED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8820" y="1946787"/>
            <a:ext cx="5183188" cy="54569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Increase Conversion Rates:</a:t>
            </a:r>
          </a:p>
          <a:p>
            <a:pPr lvl="1">
              <a:lnSpc>
                <a:spcPct val="120000"/>
              </a:lnSpc>
            </a:pPr>
            <a:r>
              <a:rPr lang="en-US" sz="1200" b="1" dirty="0">
                <a:solidFill>
                  <a:srgbClr val="0097B2"/>
                </a:solidFill>
              </a:rPr>
              <a:t>Boost Reach: </a:t>
            </a:r>
            <a:r>
              <a:rPr lang="en-US" sz="1200" b="1" dirty="0"/>
              <a:t>Turn 840 happy customers into promoters to fix the 48% traffic drop and replace dying long-form content with short-form videos.</a:t>
            </a:r>
          </a:p>
          <a:p>
            <a:pPr lvl="1">
              <a:lnSpc>
                <a:spcPct val="120000"/>
              </a:lnSpc>
            </a:pPr>
            <a:r>
              <a:rPr lang="en-US" sz="1200" b="1" dirty="0">
                <a:solidFill>
                  <a:srgbClr val="0097B2"/>
                </a:solidFill>
              </a:rPr>
              <a:t>Maximize ROI</a:t>
            </a:r>
            <a:r>
              <a:rPr lang="en-US" sz="1200" b="1" dirty="0"/>
              <a:t>: Shift budget to high-conversion products (15.46%)</a:t>
            </a:r>
          </a:p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Enhance Customer Engagement:</a:t>
            </a:r>
          </a:p>
          <a:p>
            <a:pPr lvl="1">
              <a:lnSpc>
                <a:spcPct val="120000"/>
              </a:lnSpc>
            </a:pPr>
            <a:r>
              <a:rPr lang="en-US" sz="1400" b="1" dirty="0">
                <a:solidFill>
                  <a:srgbClr val="0097B2"/>
                </a:solidFill>
              </a:rPr>
              <a:t>Content Revitalize: </a:t>
            </a:r>
            <a:r>
              <a:rPr lang="en-US" sz="1200" b="1" dirty="0"/>
              <a:t>Replace failing long-form content with Short-form Video and prioritize Social Media to reverse the 57% view collapse.</a:t>
            </a:r>
          </a:p>
          <a:p>
            <a:pPr lvl="1">
              <a:lnSpc>
                <a:spcPct val="120000"/>
              </a:lnSpc>
            </a:pPr>
            <a:endParaRPr lang="nb-NO" sz="1200" b="1" dirty="0"/>
          </a:p>
          <a:p>
            <a:pPr>
              <a:lnSpc>
                <a:spcPct val="120000"/>
              </a:lnSpc>
            </a:pPr>
            <a:r>
              <a:rPr lang="nb-NO" sz="1800" b="1" dirty="0">
                <a:solidFill>
                  <a:srgbClr val="0097B2"/>
                </a:solidFill>
              </a:rPr>
              <a:t>Improve Customer Feedback Scores:</a:t>
            </a:r>
          </a:p>
          <a:p>
            <a:pPr lvl="1"/>
            <a:r>
              <a:rPr lang="en-US" sz="1400" b="1" dirty="0">
                <a:solidFill>
                  <a:srgbClr val="0097B2"/>
                </a:solidFill>
              </a:rPr>
              <a:t>Boost Quality: </a:t>
            </a:r>
            <a:r>
              <a:rPr lang="en-US" sz="1200" b="1" dirty="0"/>
              <a:t>Audit low-rated markets like Switzerland (3.49) and resolve issues for 1-2 star reviewers to stop negative word-of-mouth.</a:t>
            </a:r>
          </a:p>
          <a:p>
            <a:pPr lvl="1"/>
            <a:r>
              <a:rPr lang="en-US" sz="1400" b="1" dirty="0">
                <a:solidFill>
                  <a:srgbClr val="0097B2"/>
                </a:solidFill>
              </a:rPr>
              <a:t>Leverage Success: </a:t>
            </a:r>
            <a:r>
              <a:rPr lang="en-US" sz="1200" b="1" dirty="0"/>
              <a:t>Survey 840 happy customers to fix the 57% video drop and turn 409 "5-star" ratings into trust-building testimonials.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592</Words>
  <Application>Microsoft Office PowerPoint</Application>
  <PresentationFormat>Widescreen</PresentationFormat>
  <Paragraphs>61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Challenges</vt:lpstr>
      <vt:lpstr>Conversion Rates  </vt:lpstr>
      <vt:lpstr>Customer Engagement Rate</vt:lpstr>
      <vt:lpstr>Customer Feedback Score</vt:lpstr>
      <vt:lpstr>Goals &amp;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Presentation </dc:title>
  <dc:creator>nader samir</dc:creator>
  <cp:lastModifiedBy>Mohamed Nofal</cp:lastModifiedBy>
  <cp:revision>23</cp:revision>
  <dcterms:created xsi:type="dcterms:W3CDTF">2026-02-11T10:58:47Z</dcterms:created>
  <dcterms:modified xsi:type="dcterms:W3CDTF">2026-02-16T10:05:06Z</dcterms:modified>
</cp:coreProperties>
</file>